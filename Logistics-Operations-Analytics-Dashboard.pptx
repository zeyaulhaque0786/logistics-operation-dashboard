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Kanit Light"/>
      <p:regular r:id="rId17"/>
    </p:embeddedFont>
    <p:embeddedFont>
      <p:font typeface="Kanit Light"/>
      <p:regular r:id="rId18"/>
    </p:embeddedFont>
    <p:embeddedFont>
      <p:font typeface="Kanit Light"/>
      <p:regular r:id="rId19"/>
    </p:embeddedFont>
    <p:embeddedFont>
      <p:font typeface="Kanit Light"/>
      <p:regular r:id="rId20"/>
    </p:embeddedFont>
    <p:embeddedFont>
      <p:font typeface="Martel Sans"/>
      <p:regular r:id="rId21"/>
    </p:embeddedFont>
    <p:embeddedFont>
      <p:font typeface="Martel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EC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3179" y="589478"/>
            <a:ext cx="5287923" cy="70506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224683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Logistics Operations Analytics Dashboard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793790" y="3762494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Transforming Logistics Performance Through Data-Driven Insights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4303276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Presented by Zeyaul Haque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93790" y="4844058"/>
            <a:ext cx="7556421" cy="1160740"/>
          </a:xfrm>
          <a:prstGeom prst="roundRect">
            <a:avLst>
              <a:gd name="adj" fmla="val 7182"/>
            </a:avLst>
          </a:prstGeom>
          <a:solidFill>
            <a:srgbClr val="CFE2D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48" y="5116473"/>
            <a:ext cx="248007" cy="1983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38513" y="5091946"/>
            <a:ext cx="67133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"Today I'll walk you through how we transformed raw logistics data into actionable insights using Power BI."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8058"/>
            <a:ext cx="7863126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Executive Summary &amp; Business Problem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65202" y="2407325"/>
            <a:ext cx="6560701" cy="4214098"/>
          </a:xfrm>
          <a:prstGeom prst="roundRect">
            <a:avLst>
              <a:gd name="adj" fmla="val 3052"/>
            </a:avLst>
          </a:prstGeom>
          <a:solidFill>
            <a:srgbClr val="437066"/>
          </a:solidFill>
          <a:ln/>
        </p:spPr>
      </p:sp>
      <p:sp>
        <p:nvSpPr>
          <p:cNvPr id="4" name="Text 2"/>
          <p:cNvSpPr/>
          <p:nvPr/>
        </p:nvSpPr>
        <p:spPr>
          <a:xfrm>
            <a:off x="843796" y="2568059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What We Built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43796" y="3007757"/>
            <a:ext cx="6203513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 end-to-end Power BI analytics solution for logistics operations, converting 1,000+ raw data records into a real-time decision-making platform for leadership and operations teams.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3796" y="3966805"/>
            <a:ext cx="6203513" cy="92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56.6%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of shipments identified as delayed</a:t>
            </a:r>
            <a:endParaRPr lang="en-US" sz="140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Key delay drivers uncovered: Weather, Traffic, Mechanical Failure</a:t>
            </a:r>
            <a:endParaRPr lang="en-US" sz="140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Actionable insights delivered to improve efficiency at scale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40704" y="2568059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Business Problem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0704" y="3007757"/>
            <a:ext cx="6303526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Before this solution, the organization operated with critical blind spots. Data existed in silos with no unified view of performance.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40704" y="3695343"/>
            <a:ext cx="6303526" cy="1582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 centralized logistics performance view</a:t>
            </a:r>
            <a:endParaRPr lang="en-US" sz="140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High shipment delay rates with no root cause visibility</a:t>
            </a:r>
            <a:endParaRPr lang="en-US" sz="140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Poor fleet utilization and resource allocation</a:t>
            </a:r>
            <a:endParaRPr lang="en-US" sz="140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 tracking of external factors like weather or traffic</a:t>
            </a:r>
            <a:endParaRPr lang="en-US" sz="140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Manual reporting led to slow, reactive decisions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40704" y="5458301"/>
            <a:ext cx="6303526" cy="982266"/>
          </a:xfrm>
          <a:prstGeom prst="roundRect">
            <a:avLst>
              <a:gd name="adj" fmla="val 7638"/>
            </a:avLst>
          </a:prstGeom>
          <a:solidFill>
            <a:srgbClr val="FCF2B5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9298" y="5700474"/>
            <a:ext cx="223242" cy="17859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121134" y="5663684"/>
            <a:ext cx="5544503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"The company had data, but no clear visibility into performance or root causes."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3543"/>
            <a:ext cx="6991945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Project Objectives &amp; Data Approach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93790" y="1683544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Strategic Objectives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123242"/>
            <a:ext cx="6303526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goal was to shift the organization from reactive firefighting to proactive, data-driven operations management.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0703" y="2852559"/>
            <a:ext cx="267891" cy="2678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4219" y="2847023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Centralized Dashboard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374219" y="3286720"/>
            <a:ext cx="5723096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Build a single source of truth for all logistics KPIs, accessible to leadership and ops teams in real time.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0703" y="4156650"/>
            <a:ext cx="267891" cy="2678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4219" y="4151114"/>
            <a:ext cx="2468880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Root Cause Identification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1374219" y="4590812"/>
            <a:ext cx="5723096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Go beyond surface-level metrics to pinpoint the specific drivers behind shipment delays and fleet inefficiencies.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0703" y="5460742"/>
            <a:ext cx="267891" cy="26789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4219" y="5455206"/>
            <a:ext cx="2636520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Enable Proactive Decisions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1374219" y="5894903"/>
            <a:ext cx="5723096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Equip teams with the visibility needed to act before problems escalate, improving delivery performance continuously.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540704" y="1683544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&amp; Approach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540704" y="2123242"/>
            <a:ext cx="6303526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Data quality is the foundation of any reliable analytics solution. Rigorous preparation ensured trustworthy outputs.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7540704" y="2847023"/>
            <a:ext cx="6303526" cy="1385530"/>
          </a:xfrm>
          <a:prstGeom prst="roundRect">
            <a:avLst>
              <a:gd name="adj" fmla="val 7920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517844" y="2847023"/>
            <a:ext cx="91440" cy="1385530"/>
          </a:xfrm>
          <a:prstGeom prst="roundRect">
            <a:avLst>
              <a:gd name="adj" fmla="val 82047"/>
            </a:avLst>
          </a:prstGeom>
          <a:solidFill>
            <a:srgbClr val="437066"/>
          </a:solidFill>
          <a:ln/>
        </p:spPr>
      </p:sp>
      <p:sp>
        <p:nvSpPr>
          <p:cNvPr id="18" name="Text 13"/>
          <p:cNvSpPr/>
          <p:nvPr/>
        </p:nvSpPr>
        <p:spPr>
          <a:xfrm>
            <a:off x="7810738" y="3048476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Source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7810738" y="3488174"/>
            <a:ext cx="5832038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Excel-based dataset with </a:t>
            </a:r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1,000+ logistics records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spanning shipments, fleet activity, locations, and environmental data.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7540704" y="4393287"/>
            <a:ext cx="6303526" cy="1385530"/>
          </a:xfrm>
          <a:prstGeom prst="roundRect">
            <a:avLst>
              <a:gd name="adj" fmla="val 7920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517844" y="4393287"/>
            <a:ext cx="91440" cy="1385530"/>
          </a:xfrm>
          <a:prstGeom prst="roundRect">
            <a:avLst>
              <a:gd name="adj" fmla="val 82047"/>
            </a:avLst>
          </a:prstGeom>
          <a:solidFill>
            <a:srgbClr val="437066"/>
          </a:solidFill>
          <a:ln/>
        </p:spPr>
      </p:sp>
      <p:sp>
        <p:nvSpPr>
          <p:cNvPr id="22" name="Text 17"/>
          <p:cNvSpPr/>
          <p:nvPr/>
        </p:nvSpPr>
        <p:spPr>
          <a:xfrm>
            <a:off x="7810738" y="4594741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Cleaning</a:t>
            </a:r>
            <a:endParaRPr lang="en-US" sz="1750" dirty="0"/>
          </a:p>
        </p:txBody>
      </p:sp>
      <p:sp>
        <p:nvSpPr>
          <p:cNvPr id="23" name="Text 18"/>
          <p:cNvSpPr/>
          <p:nvPr/>
        </p:nvSpPr>
        <p:spPr>
          <a:xfrm>
            <a:off x="7810738" y="5034439"/>
            <a:ext cx="5832038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Removed duplicates, handled missing values, and standardized column naming conventions for consistency.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7540704" y="5939552"/>
            <a:ext cx="6303526" cy="1385530"/>
          </a:xfrm>
          <a:prstGeom prst="roundRect">
            <a:avLst>
              <a:gd name="adj" fmla="val 7920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517844" y="5939552"/>
            <a:ext cx="91440" cy="1385530"/>
          </a:xfrm>
          <a:prstGeom prst="roundRect">
            <a:avLst>
              <a:gd name="adj" fmla="val 82047"/>
            </a:avLst>
          </a:prstGeom>
          <a:solidFill>
            <a:srgbClr val="437066"/>
          </a:solidFill>
          <a:ln/>
        </p:spPr>
      </p:sp>
      <p:sp>
        <p:nvSpPr>
          <p:cNvPr id="26" name="Text 21"/>
          <p:cNvSpPr/>
          <p:nvPr/>
        </p:nvSpPr>
        <p:spPr>
          <a:xfrm>
            <a:off x="7810738" y="6141006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Transformation</a:t>
            </a:r>
            <a:endParaRPr lang="en-US" sz="1750" dirty="0"/>
          </a:p>
        </p:txBody>
      </p:sp>
      <p:sp>
        <p:nvSpPr>
          <p:cNvPr id="27" name="Text 22"/>
          <p:cNvSpPr/>
          <p:nvPr/>
        </p:nvSpPr>
        <p:spPr>
          <a:xfrm>
            <a:off x="7810738" y="6580703"/>
            <a:ext cx="5832038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Data was restructured and processed in Power Query to enable efficient modeling and DAX calculations.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0739"/>
            <a:ext cx="5853946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Modeling &amp; KPI Framework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2036207"/>
            <a:ext cx="2239804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Model Architecture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93790" y="2443043"/>
            <a:ext cx="6315670" cy="749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robust data model is the backbone of any high-performance Power BI solution. The model was designed for speed, flexibility, and accurate time-based analysis.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3790" y="3353276"/>
            <a:ext cx="3086100" cy="2007632"/>
          </a:xfrm>
          <a:prstGeom prst="roundRect">
            <a:avLst>
              <a:gd name="adj" fmla="val 352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0002" y="3529489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Date Table via DAX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70002" y="3936325"/>
            <a:ext cx="2733675" cy="1248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custom Date Table was created using DAX to enable full time-intelligence capabilities — year-over-year, month-to-date, and rolling averages.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23241" y="3353276"/>
            <a:ext cx="3086219" cy="2007632"/>
          </a:xfrm>
          <a:prstGeom prst="roundRect">
            <a:avLst>
              <a:gd name="adj" fmla="val 352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99453" y="3529489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Table Relationships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199453" y="3936325"/>
            <a:ext cx="2733794" cy="1248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Logistics Table and Date Table were connected via optimized relationships, ensuring accurate cross-filtering and consistent KPI calculations.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3790" y="5522119"/>
            <a:ext cx="6315670" cy="898088"/>
          </a:xfrm>
          <a:prstGeom prst="roundRect">
            <a:avLst>
              <a:gd name="adj" fmla="val 7890"/>
            </a:avLst>
          </a:prstGeom>
          <a:solidFill>
            <a:srgbClr val="B6D6FC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382" y="5745361"/>
            <a:ext cx="210860" cy="16859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41834" y="5707618"/>
            <a:ext cx="5599033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"This model enables powerful time-based analysis and high performance across all dashboard pages."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528560" y="2036207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Core KPI Measures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528560" y="2443043"/>
            <a:ext cx="6315670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Six key measures were built using DAX to directly reflect business performance and operational efficiency at a glance.</a:t>
            </a:r>
            <a:endParaRPr lang="en-US" sz="13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8560" y="3103602"/>
            <a:ext cx="421719" cy="42171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528560" y="3704511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Total Shipments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7528560" y="4111347"/>
            <a:ext cx="3068241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Aggregate count of all shipments processed within the selected period.</a:t>
            </a:r>
            <a:endParaRPr lang="en-US" sz="13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75990" y="3103602"/>
            <a:ext cx="421719" cy="42171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775990" y="3704511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On-Time Delivery %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10775990" y="4111347"/>
            <a:ext cx="3068241" cy="749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Percentage of shipments arriving within the committed delivery window.</a:t>
            </a:r>
            <a:endParaRPr lang="en-US" sz="13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560" y="5147072"/>
            <a:ext cx="421719" cy="42171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28560" y="5747980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Delayed Shipments %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7528560" y="6154817"/>
            <a:ext cx="3068241" cy="749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Share of total shipments that exceeded the scheduled delivery timeline.</a:t>
            </a:r>
            <a:endParaRPr lang="en-US" sz="13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75990" y="5147072"/>
            <a:ext cx="421719" cy="42171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775990" y="5747980"/>
            <a:ext cx="3068241" cy="526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Fleet Utilization &amp; Avg Waiting Time</a:t>
            </a:r>
            <a:endParaRPr lang="en-US" sz="1650" dirty="0"/>
          </a:p>
        </p:txBody>
      </p:sp>
      <p:sp>
        <p:nvSpPr>
          <p:cNvPr id="27" name="Text 20"/>
          <p:cNvSpPr/>
          <p:nvPr/>
        </p:nvSpPr>
        <p:spPr>
          <a:xfrm>
            <a:off x="10775990" y="6418302"/>
            <a:ext cx="3068241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Tracks active vs. idle fleet assets and average dwell time at facilities.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3179" y="2579013"/>
            <a:ext cx="5287923" cy="307145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80545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Overview Dashboard</a:t>
            </a:r>
            <a:endParaRPr lang="en-US" sz="3900" dirty="0"/>
          </a:p>
        </p:txBody>
      </p:sp>
      <p:sp>
        <p:nvSpPr>
          <p:cNvPr id="5" name="Text 1"/>
          <p:cNvSpPr/>
          <p:nvPr/>
        </p:nvSpPr>
        <p:spPr>
          <a:xfrm>
            <a:off x="793790" y="1723192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Overview Dashboard provides leadership with a complete, real-time snapshot of logistics operations — from shipment trends to fleet utilization and delay root causes — all in one view.</a:t>
            </a:r>
            <a:endParaRPr lang="en-US" sz="1550" dirty="0"/>
          </a:p>
        </p:txBody>
      </p:sp>
      <p:sp>
        <p:nvSpPr>
          <p:cNvPr id="6" name="Shape 2"/>
          <p:cNvSpPr/>
          <p:nvPr/>
        </p:nvSpPr>
        <p:spPr>
          <a:xfrm>
            <a:off x="793790" y="2899053"/>
            <a:ext cx="7556421" cy="4524970"/>
          </a:xfrm>
          <a:prstGeom prst="roundRect">
            <a:avLst>
              <a:gd name="adj" fmla="val 1842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01410" y="2906673"/>
            <a:ext cx="3770590" cy="2731175"/>
          </a:xfrm>
          <a:prstGeom prst="roundRect">
            <a:avLst>
              <a:gd name="adj" fmla="val 3052"/>
            </a:avLst>
          </a:prstGeom>
          <a:solidFill>
            <a:srgbClr val="DFECE9"/>
          </a:solidFill>
          <a:ln/>
        </p:spPr>
      </p:sp>
      <p:sp>
        <p:nvSpPr>
          <p:cNvPr id="8" name="Text 4"/>
          <p:cNvSpPr/>
          <p:nvPr/>
        </p:nvSpPr>
        <p:spPr>
          <a:xfrm>
            <a:off x="999768" y="31050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KPI Summary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999768" y="3534251"/>
            <a:ext cx="3373874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Top-line metrics — Total Shipments (1K), On-Time Delivery (43.4%), Delayed Shipments (56.6%), Transaction Amount (299K), Fleet Utilization (80) — instantly visible to leadership.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4572000" y="2906673"/>
            <a:ext cx="3770590" cy="2731175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11" name="Shape 7"/>
          <p:cNvSpPr/>
          <p:nvPr/>
        </p:nvSpPr>
        <p:spPr>
          <a:xfrm>
            <a:off x="4572000" y="2906673"/>
            <a:ext cx="22860" cy="2731175"/>
          </a:xfrm>
          <a:prstGeom prst="roundRect">
            <a:avLst>
              <a:gd name="adj" fmla="val 364651"/>
            </a:avLst>
          </a:prstGeom>
          <a:solidFill>
            <a:srgbClr val="C5D2CF"/>
          </a:solidFill>
          <a:ln/>
        </p:spPr>
      </p:sp>
      <p:sp>
        <p:nvSpPr>
          <p:cNvPr id="12" name="Text 8"/>
          <p:cNvSpPr/>
          <p:nvPr/>
        </p:nvSpPr>
        <p:spPr>
          <a:xfrm>
            <a:off x="4770358" y="31050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Shipment Trends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4770358" y="3534251"/>
            <a:ext cx="3373874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Monthly trend lines segmenting Delayed, Delivered, and In-Transit shipments to reveal seasonality and performance patterns over time.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801410" y="5637848"/>
            <a:ext cx="7541181" cy="1778556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15" name="Shape 11"/>
          <p:cNvSpPr/>
          <p:nvPr/>
        </p:nvSpPr>
        <p:spPr>
          <a:xfrm>
            <a:off x="801410" y="5637848"/>
            <a:ext cx="7541181" cy="22860"/>
          </a:xfrm>
          <a:prstGeom prst="roundRect">
            <a:avLst>
              <a:gd name="adj" fmla="val 364651"/>
            </a:avLst>
          </a:prstGeom>
          <a:solidFill>
            <a:srgbClr val="C5D2CF"/>
          </a:solidFill>
          <a:ln/>
        </p:spPr>
      </p:sp>
      <p:sp>
        <p:nvSpPr>
          <p:cNvPr id="16" name="Text 12"/>
          <p:cNvSpPr/>
          <p:nvPr/>
        </p:nvSpPr>
        <p:spPr>
          <a:xfrm>
            <a:off x="999768" y="5836206"/>
            <a:ext cx="339471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Top Locations &amp; Delay Reasons</a:t>
            </a:r>
            <a:endParaRPr lang="en-US" sz="1950" dirty="0"/>
          </a:p>
        </p:txBody>
      </p:sp>
      <p:sp>
        <p:nvSpPr>
          <p:cNvPr id="17" name="Text 13"/>
          <p:cNvSpPr/>
          <p:nvPr/>
        </p:nvSpPr>
        <p:spPr>
          <a:xfrm>
            <a:off x="999768" y="6265426"/>
            <a:ext cx="714446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Bar chart of highest-volume locations (El Paso leading at 44) paired with a breakdown of delay causes: Weather 36.23%, Traffic 32.02%, Mechanical Failure 31.75%.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33" y="2540198"/>
            <a:ext cx="5337334" cy="31490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729615"/>
            <a:ext cx="5093732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Weather Monitoring Dashboard</a:t>
            </a:r>
            <a:endParaRPr lang="en-US" sz="2900" dirty="0"/>
          </a:p>
        </p:txBody>
      </p:sp>
      <p:sp>
        <p:nvSpPr>
          <p:cNvPr id="5" name="Text 1"/>
          <p:cNvSpPr/>
          <p:nvPr/>
        </p:nvSpPr>
        <p:spPr>
          <a:xfrm>
            <a:off x="6280190" y="1362194"/>
            <a:ext cx="7556421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Weather Monitoring page adds a critical external dimension to logistics analysis — revealing how environmental conditions directly correlate with shipment delays and waiting times.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7224712" y="1978819"/>
            <a:ext cx="5667256" cy="491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23.9</a:t>
            </a:r>
            <a:endParaRPr lang="en-US" sz="3850" dirty="0"/>
          </a:p>
        </p:txBody>
      </p:sp>
      <p:sp>
        <p:nvSpPr>
          <p:cNvPr id="7" name="Text 3"/>
          <p:cNvSpPr/>
          <p:nvPr/>
        </p:nvSpPr>
        <p:spPr>
          <a:xfrm>
            <a:off x="9128046" y="2628067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Avg Temperature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280190" y="2927509"/>
            <a:ext cx="7556421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Average temperature (°C) recorded across all monitored weeks, correlated against delay frequency.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7224712" y="3433524"/>
            <a:ext cx="5667256" cy="491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65.0</a:t>
            </a:r>
            <a:endParaRPr lang="en-US" sz="3850" dirty="0"/>
          </a:p>
        </p:txBody>
      </p:sp>
      <p:sp>
        <p:nvSpPr>
          <p:cNvPr id="10" name="Text 6"/>
          <p:cNvSpPr/>
          <p:nvPr/>
        </p:nvSpPr>
        <p:spPr>
          <a:xfrm>
            <a:off x="9128046" y="4082772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Avg Humidity %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280190" y="4382214"/>
            <a:ext cx="7556421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Average humidity level, a key environmental variable affecting road conditions and driver safety.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7224712" y="4888230"/>
            <a:ext cx="5667256" cy="491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35.1</a:t>
            </a:r>
            <a:endParaRPr lang="en-US" sz="3850" dirty="0"/>
          </a:p>
        </p:txBody>
      </p:sp>
      <p:sp>
        <p:nvSpPr>
          <p:cNvPr id="13" name="Text 9"/>
          <p:cNvSpPr/>
          <p:nvPr/>
        </p:nvSpPr>
        <p:spPr>
          <a:xfrm>
            <a:off x="9128046" y="5537478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Avg Waiting Time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280190" y="5836920"/>
            <a:ext cx="7556421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Average waiting time (mins) at facilities, rising notably during adverse weather periods.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224712" y="6342936"/>
            <a:ext cx="5667256" cy="491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298</a:t>
            </a:r>
            <a:endParaRPr lang="en-US" sz="3850" dirty="0"/>
          </a:p>
        </p:txBody>
      </p:sp>
      <p:sp>
        <p:nvSpPr>
          <p:cNvPr id="16" name="Text 12"/>
          <p:cNvSpPr/>
          <p:nvPr/>
        </p:nvSpPr>
        <p:spPr>
          <a:xfrm>
            <a:off x="9128046" y="6992183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Avg Inventory Level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280190" y="7291626"/>
            <a:ext cx="7556421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Average inventory level tracked alongside weather trends to assess supply chain resilience.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9373"/>
            <a:ext cx="6135529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Insights &amp; Problem Diagnosis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584841"/>
            <a:ext cx="2519720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🚨</a:t>
            </a:r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What the Data Revealed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93790" y="2009537"/>
            <a:ext cx="3086100" cy="2038112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930" y="2009537"/>
            <a:ext cx="91440" cy="2038112"/>
          </a:xfrm>
          <a:prstGeom prst="roundRect">
            <a:avLst>
              <a:gd name="adj" fmla="val 77488"/>
            </a:avLst>
          </a:prstGeom>
          <a:solidFill>
            <a:srgbClr val="437066"/>
          </a:solidFill>
          <a:ln/>
        </p:spPr>
      </p:sp>
      <p:sp>
        <p:nvSpPr>
          <p:cNvPr id="6" name="Text 4"/>
          <p:cNvSpPr/>
          <p:nvPr/>
        </p:nvSpPr>
        <p:spPr>
          <a:xfrm>
            <a:off x="1053822" y="2200989"/>
            <a:ext cx="2376607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56.6% Shipments Delayed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53822" y="2607826"/>
            <a:ext cx="2634615" cy="1248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More than half of all shipments failed to meet delivery commitments — a critical performance gap with direct customer impact.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23241" y="2009537"/>
            <a:ext cx="3086219" cy="2038112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00381" y="2009537"/>
            <a:ext cx="91440" cy="2038112"/>
          </a:xfrm>
          <a:prstGeom prst="roundRect">
            <a:avLst>
              <a:gd name="adj" fmla="val 77488"/>
            </a:avLst>
          </a:prstGeom>
          <a:solidFill>
            <a:srgbClr val="437066"/>
          </a:solidFill>
          <a:ln/>
        </p:spPr>
      </p:sp>
      <p:sp>
        <p:nvSpPr>
          <p:cNvPr id="10" name="Text 8"/>
          <p:cNvSpPr/>
          <p:nvPr/>
        </p:nvSpPr>
        <p:spPr>
          <a:xfrm>
            <a:off x="4283273" y="2200989"/>
            <a:ext cx="2519005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Location-Specific Hotspots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283273" y="2607826"/>
            <a:ext cx="2634734" cy="1248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Certain locations disproportionately contribute to delay counts, signaling infrastructure or process issues at those nodes.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3790" y="4191000"/>
            <a:ext cx="3086100" cy="2301597"/>
          </a:xfrm>
          <a:prstGeom prst="roundRect">
            <a:avLst>
              <a:gd name="adj" fmla="val 4767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0930" y="4191000"/>
            <a:ext cx="91440" cy="2301597"/>
          </a:xfrm>
          <a:prstGeom prst="roundRect">
            <a:avLst>
              <a:gd name="adj" fmla="val 77488"/>
            </a:avLst>
          </a:prstGeom>
          <a:solidFill>
            <a:srgbClr val="437066"/>
          </a:solidFill>
          <a:ln/>
        </p:spPr>
      </p:sp>
      <p:sp>
        <p:nvSpPr>
          <p:cNvPr id="14" name="Text 12"/>
          <p:cNvSpPr/>
          <p:nvPr/>
        </p:nvSpPr>
        <p:spPr>
          <a:xfrm>
            <a:off x="1053822" y="4382453"/>
            <a:ext cx="2634615" cy="526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Fleet Imbalance &amp; High Waiting Time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53822" y="5052774"/>
            <a:ext cx="2634615" cy="99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Uneven truck utilization and elevated waiting times point to poor resource scheduling and yard management practices.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023241" y="4191000"/>
            <a:ext cx="3086219" cy="2301597"/>
          </a:xfrm>
          <a:prstGeom prst="roundRect">
            <a:avLst>
              <a:gd name="adj" fmla="val 4767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00381" y="4191000"/>
            <a:ext cx="91440" cy="2301597"/>
          </a:xfrm>
          <a:prstGeom prst="roundRect">
            <a:avLst>
              <a:gd name="adj" fmla="val 77488"/>
            </a:avLst>
          </a:prstGeom>
          <a:solidFill>
            <a:srgbClr val="437066"/>
          </a:solidFill>
          <a:ln/>
        </p:spPr>
      </p:sp>
      <p:sp>
        <p:nvSpPr>
          <p:cNvPr id="18" name="Text 16"/>
          <p:cNvSpPr/>
          <p:nvPr/>
        </p:nvSpPr>
        <p:spPr>
          <a:xfrm>
            <a:off x="4283273" y="4382453"/>
            <a:ext cx="2634734" cy="526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Weather as a Major Delay Factor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283273" y="5052774"/>
            <a:ext cx="2634734" cy="1248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Weather accounts for 36.23% of all delay reasons — yet most operations had no weather-aware planning protocols in place.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28560" y="1584841"/>
            <a:ext cx="2306241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🔍</a:t>
            </a:r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Root Cause Diagnosis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528560" y="1991678"/>
            <a:ext cx="6315670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Moving beyond symptoms, the analysis identified the systemic causes driving underperformance across the network.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528560" y="2652236"/>
            <a:ext cx="379571" cy="379571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91842" y="2683907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8051483" y="2710220"/>
            <a:ext cx="239363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Inefficient Route Planning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8051483" y="3117056"/>
            <a:ext cx="5792748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Routes were not optimized for traffic patterns or weather conditions, leading to predictable yet avoidable delays.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528560" y="3903107"/>
            <a:ext cx="379571" cy="379571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91842" y="3934778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8051483" y="3961090"/>
            <a:ext cx="2416850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Lack of Predictive Insights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8051483" y="4367927"/>
            <a:ext cx="5792748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Operations reacted to problems after they occurred, with no forward-looking analytics to anticipate disruptions.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528560" y="5153978"/>
            <a:ext cx="379571" cy="379571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91842" y="5185648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8051483" y="5211961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Poor Fleet Allocation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8051483" y="5618798"/>
            <a:ext cx="5792748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Trucks were not distributed based on demand signals, resulting in overloaded routes and idle assets elsewhere.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528560" y="6404848"/>
            <a:ext cx="379571" cy="379571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91842" y="6436519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8051483" y="6462832"/>
            <a:ext cx="2619970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 Weather-Based Planning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8051483" y="6869668"/>
            <a:ext cx="5792748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Environmental data was entirely absent from operational planning, leaving teams blind to one of the biggest delay drivers.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61142"/>
            <a:ext cx="6184463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Solution &amp; Measurable Impact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93790" y="1508403"/>
            <a:ext cx="13042821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Power BI solution directly addresses each identified root cause, transforming the logistics function from a reactive cost center into a proactive, data-driven operation.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298263"/>
            <a:ext cx="1292662" cy="7989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321010"/>
            <a:ext cx="264687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Real-Time KPI Monitoring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93790" y="3723084"/>
            <a:ext cx="3092768" cy="205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Leadership can now track Total Shipments, On-Time Delivery %, Delayed Shipments %, Fleet Utilization, and Transaction Amount on a live dashboard — eliminating lag from manual reporting cycles.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395" y="2298263"/>
            <a:ext cx="1292781" cy="7989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0395" y="3321010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Root Cause Analysis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110395" y="3723084"/>
            <a:ext cx="3092887" cy="1765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Drill-through capability enables teams to pinpoint whether delays stem from weather, traffic, or mechanical failure — by location, truck, or time period — enabling targeted corrective action.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119" y="2298263"/>
            <a:ext cx="1292662" cy="79890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27119" y="3321010"/>
            <a:ext cx="2786063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Fleet Optimization Insights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7427119" y="3723084"/>
            <a:ext cx="3092768" cy="1765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Per-truck utilization visibility reveals idle assets and overloaded routes, giving operations managers the data to rebalance fleet deployment and reduce inefficiency.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3724" y="2298263"/>
            <a:ext cx="1292781" cy="79890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43724" y="3321010"/>
            <a:ext cx="299716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Weather Correlation Analysis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10743724" y="3723084"/>
            <a:ext cx="3092887" cy="1765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Temperature and humidity trend data is now integrated into the logistics view, enabling weather-aware planning that reduces weather-related delays before they occur.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793790" y="5983962"/>
            <a:ext cx="4228148" cy="1684496"/>
          </a:xfrm>
          <a:prstGeom prst="roundRect">
            <a:avLst>
              <a:gd name="adj" fmla="val 470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989886" y="6180058"/>
            <a:ext cx="2356842" cy="30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📉</a:t>
            </a:r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Reduced Delays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989886" y="6589752"/>
            <a:ext cx="3835956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Targeted interventions guided by root cause data drive measurable reductions in delay rates.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5201007" y="5983962"/>
            <a:ext cx="4228267" cy="1684496"/>
          </a:xfrm>
          <a:prstGeom prst="roundRect">
            <a:avLst>
              <a:gd name="adj" fmla="val 470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5397103" y="6180058"/>
            <a:ext cx="2382083" cy="30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⚡</a:t>
            </a:r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Improved Efficiency</a:t>
            </a:r>
            <a:endParaRPr lang="en-US" sz="1850" dirty="0"/>
          </a:p>
        </p:txBody>
      </p:sp>
      <p:sp>
        <p:nvSpPr>
          <p:cNvPr id="21" name="Text 15"/>
          <p:cNvSpPr/>
          <p:nvPr/>
        </p:nvSpPr>
        <p:spPr>
          <a:xfrm>
            <a:off x="5397103" y="6589752"/>
            <a:ext cx="3836075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Optimized fleet allocation and routing reduce waste and idle time across the network.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9608344" y="5983962"/>
            <a:ext cx="4228148" cy="1684496"/>
          </a:xfrm>
          <a:prstGeom prst="roundRect">
            <a:avLst>
              <a:gd name="adj" fmla="val 470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9804440" y="6180058"/>
            <a:ext cx="2356842" cy="30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🧠</a:t>
            </a:r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Faster Decisions</a:t>
            </a:r>
            <a:endParaRPr lang="en-US" sz="1850" dirty="0"/>
          </a:p>
        </p:txBody>
      </p:sp>
      <p:sp>
        <p:nvSpPr>
          <p:cNvPr id="24" name="Text 18"/>
          <p:cNvSpPr/>
          <p:nvPr/>
        </p:nvSpPr>
        <p:spPr>
          <a:xfrm>
            <a:off x="9804440" y="6589752"/>
            <a:ext cx="3835956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Real-time dashboards replace manual reports, compressing decision cycles from days to minutes.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0561"/>
            <a:ext cx="4584263" cy="403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Recommendations &amp; Conclusion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93790" y="1293257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Actionable Next Steps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578531"/>
            <a:ext cx="6364129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These five recommendations translate dashboard insights into sustained operational improvements across the logistics network.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93790" y="2013347"/>
            <a:ext cx="258008" cy="161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3790" y="2217182"/>
            <a:ext cx="6364129" cy="1524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2312075"/>
            <a:ext cx="2205276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Implement Predictive Analytics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3790" y="2597348"/>
            <a:ext cx="6364129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Extend the current descriptive model to incorporate forecasting — predicting delay probabilities by route, weather forecast, and historical patterns.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3790" y="3118366"/>
            <a:ext cx="258008" cy="161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93790" y="3322201"/>
            <a:ext cx="6364129" cy="1524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1" name="Text 9"/>
          <p:cNvSpPr/>
          <p:nvPr/>
        </p:nvSpPr>
        <p:spPr>
          <a:xfrm>
            <a:off x="793790" y="3417094"/>
            <a:ext cx="1790462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Optimize Fleet Allocation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3790" y="3702368"/>
            <a:ext cx="6364129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 utilization data to dynamically reassign trucks based on demand signals, reducing both idle assets and overloaded routes.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3790" y="4223385"/>
            <a:ext cx="258008" cy="161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3790" y="4427220"/>
            <a:ext cx="6364129" cy="1524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5" name="Text 13"/>
          <p:cNvSpPr/>
          <p:nvPr/>
        </p:nvSpPr>
        <p:spPr>
          <a:xfrm>
            <a:off x="793790" y="4522113"/>
            <a:ext cx="2171581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Adopt Weather-Based Routing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3790" y="4807387"/>
            <a:ext cx="6364129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Integrate live weather feeds into route planning tools to proactively reroute shipments when adverse conditions are forecast.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3790" y="5328404"/>
            <a:ext cx="258008" cy="161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3790" y="5532239"/>
            <a:ext cx="6364129" cy="1524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9" name="Text 17"/>
          <p:cNvSpPr/>
          <p:nvPr/>
        </p:nvSpPr>
        <p:spPr>
          <a:xfrm>
            <a:off x="793790" y="5627132"/>
            <a:ext cx="2019895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Target High-Delay Locations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93790" y="5912406"/>
            <a:ext cx="6364129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Focus operational improvement programs on the specific nodes and lanes with the highest delay concentrations.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3790" y="6433423"/>
            <a:ext cx="258008" cy="161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3790" y="6637258"/>
            <a:ext cx="6364129" cy="1524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23" name="Text 21"/>
          <p:cNvSpPr/>
          <p:nvPr/>
        </p:nvSpPr>
        <p:spPr>
          <a:xfrm>
            <a:off x="793790" y="6732151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Reduce Waiting Time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93790" y="7017425"/>
            <a:ext cx="6364129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Investigate facility-level bottlenecks contributing to elevated average waiting times and implement process changes to reduce dwell time.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87233" y="1209437"/>
            <a:ext cx="6549866" cy="6339483"/>
          </a:xfrm>
          <a:prstGeom prst="roundRect">
            <a:avLst>
              <a:gd name="adj" fmla="val 1465"/>
            </a:avLst>
          </a:prstGeom>
          <a:solidFill>
            <a:srgbClr val="437066"/>
          </a:solidFill>
          <a:ln/>
        </p:spPr>
      </p:sp>
      <p:sp>
        <p:nvSpPr>
          <p:cNvPr id="26" name="Text 24"/>
          <p:cNvSpPr/>
          <p:nvPr/>
        </p:nvSpPr>
        <p:spPr>
          <a:xfrm>
            <a:off x="7516177" y="1293257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516177" y="1578531"/>
            <a:ext cx="6291977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project delivered more than a dashboard — it built a scalable analytics foundation that gives the organization ongoing operational visibility and the capability to act on data, not intuition.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16177" y="1994416"/>
            <a:ext cx="6291977" cy="768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Built a 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scalable, enterprise-ready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Power BI analytics solution</a:t>
            </a:r>
            <a:endParaRPr lang="en-US" sz="1000" dirty="0"/>
          </a:p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Enabled 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data-driven logistics decisions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at every level of the organization</a:t>
            </a:r>
            <a:endParaRPr lang="en-US" sz="1000" dirty="0"/>
          </a:p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Improved 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operational visibility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across shipments, fleet, and external factors</a:t>
            </a:r>
            <a:endParaRPr lang="en-US" sz="1000" dirty="0"/>
          </a:p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Established a reusable 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data model and KPI framework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for future expansion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16177" y="2857619"/>
            <a:ext cx="6291977" cy="596265"/>
          </a:xfrm>
          <a:prstGeom prst="roundRect">
            <a:avLst>
              <a:gd name="adj" fmla="val 9087"/>
            </a:avLst>
          </a:prstGeom>
          <a:solidFill>
            <a:srgbClr val="CFE2DE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5122" y="3020139"/>
            <a:ext cx="161211" cy="128945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7935278" y="2973586"/>
            <a:ext cx="5743932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"This dashboard is not just reporting — it's a decision-making engine that grows with the business."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EC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96" y="569595"/>
            <a:ext cx="5317808" cy="70904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736163"/>
            <a:ext cx="7556421" cy="1054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Transforming Logistics Data Into Strategic Advantage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533198" y="2166580"/>
            <a:ext cx="7303413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"This solution empowers the organization to achieve efficiency, profitability, and better customer satisfaction — turning every data point into a competitive edge."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280190" y="2005370"/>
            <a:ext cx="22860" cy="821769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7" name="Shape 4"/>
          <p:cNvSpPr/>
          <p:nvPr/>
        </p:nvSpPr>
        <p:spPr>
          <a:xfrm>
            <a:off x="6280190" y="2988350"/>
            <a:ext cx="3706535" cy="2100263"/>
          </a:xfrm>
          <a:prstGeom prst="roundRect">
            <a:avLst>
              <a:gd name="adj" fmla="val 337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56402" y="3164562"/>
            <a:ext cx="506016" cy="506016"/>
          </a:xfrm>
          <a:prstGeom prst="roundRect">
            <a:avLst>
              <a:gd name="adj" fmla="val 18068768"/>
            </a:avLst>
          </a:prstGeom>
          <a:solidFill>
            <a:srgbClr val="43706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5586" y="3303627"/>
            <a:ext cx="227647" cy="2276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56402" y="3813929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Operational Efficiency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6456402" y="4163378"/>
            <a:ext cx="3354110" cy="749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Reduced delays and optimized fleet utilization through real-time, data-driven decision-making.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10130076" y="2988350"/>
            <a:ext cx="3706535" cy="2100263"/>
          </a:xfrm>
          <a:prstGeom prst="roundRect">
            <a:avLst>
              <a:gd name="adj" fmla="val 337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0306288" y="3164562"/>
            <a:ext cx="506016" cy="506016"/>
          </a:xfrm>
          <a:prstGeom prst="roundRect">
            <a:avLst>
              <a:gd name="adj" fmla="val 18068768"/>
            </a:avLst>
          </a:prstGeom>
          <a:solidFill>
            <a:srgbClr val="43706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45472" y="3303627"/>
            <a:ext cx="227647" cy="2276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306288" y="3813929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Business Profitability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10306288" y="4163378"/>
            <a:ext cx="3354110" cy="749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Lower operational costs through smarter routing, reduced idle time, and targeted interventions.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280190" y="5231963"/>
            <a:ext cx="7556421" cy="1850588"/>
          </a:xfrm>
          <a:prstGeom prst="roundRect">
            <a:avLst>
              <a:gd name="adj" fmla="val 382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456402" y="5408176"/>
            <a:ext cx="506016" cy="506016"/>
          </a:xfrm>
          <a:prstGeom prst="roundRect">
            <a:avLst>
              <a:gd name="adj" fmla="val 18068768"/>
            </a:avLst>
          </a:prstGeom>
          <a:solidFill>
            <a:srgbClr val="43706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95586" y="5547241"/>
            <a:ext cx="227647" cy="2276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56402" y="6057543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Customer Satisfaction</a:t>
            </a:r>
            <a:endParaRPr lang="en-US" sz="1650" dirty="0"/>
          </a:p>
        </p:txBody>
      </p:sp>
      <p:sp>
        <p:nvSpPr>
          <p:cNvPr id="21" name="Text 15"/>
          <p:cNvSpPr/>
          <p:nvPr/>
        </p:nvSpPr>
        <p:spPr>
          <a:xfrm>
            <a:off x="6456402" y="6406991"/>
            <a:ext cx="7203996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Reliable on-time delivery performance builds trust and strengthens long-term customer relationships.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280190" y="7243762"/>
            <a:ext cx="7556421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Presented by Zeyaul Haque — Power BI Logistics Analytics 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2026-04-27T14:50:11Z</dcterms:created>
  <dcterms:modified xsi:type="dcterms:W3CDTF">2026-04-27T14:50:11Z</dcterms:modified>
</cp:coreProperties>
</file>